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57" r:id="rId4"/>
    <p:sldId id="259" r:id="rId5"/>
    <p:sldId id="263" r:id="rId6"/>
    <p:sldId id="264" r:id="rId7"/>
    <p:sldId id="267" r:id="rId8"/>
    <p:sldId id="268" r:id="rId9"/>
    <p:sldId id="260" r:id="rId10"/>
    <p:sldId id="261" r:id="rId11"/>
    <p:sldId id="262" r:id="rId12"/>
    <p:sldId id="265" r:id="rId13"/>
    <p:sldId id="269" r:id="rId14"/>
    <p:sldId id="270" r:id="rId15"/>
  </p:sldIdLst>
  <p:sldSz cx="12192000" cy="6858000"/>
  <p:notesSz cx="7010400" cy="92964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160CB5-C18E-40AA-8CCD-B3E1F7BF0E9D}" v="7" dt="2025-08-06T18:36:13.3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95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8DF24C-C91B-5E2E-7CA0-FA5D23A399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CA"/>
              <a:t>Modifier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A4BD219-1A44-000C-BF69-F9ED9F65B5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CA"/>
              <a:t>Modifier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7530D9C-2C50-B491-579C-E8AC79419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57131-583E-4951-A65B-8CE71F2593AD}" type="datetimeFigureOut">
              <a:rPr lang="fr-CA" smtClean="0"/>
              <a:t>2025-08-06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9F614D-73DF-B6C3-2C6E-2A742916B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1E5990C-1D0A-B209-C460-28BA150CF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0858-A4A0-4BFD-AF4F-8778C9231E9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194399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72D84F-57F5-6E8F-32AD-9113BE8F4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D8502FA-8A1B-6D0F-A868-3D189B4762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736BA57-607D-AED4-9524-1F95717EF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57131-583E-4951-A65B-8CE71F2593AD}" type="datetimeFigureOut">
              <a:rPr lang="fr-CA" smtClean="0"/>
              <a:t>2025-08-06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D5C6755-6FC4-00DA-C6CC-B32D0B0F6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1D59F7C-10F0-EF7C-5362-74871AFC5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0858-A4A0-4BFD-AF4F-8778C9231E9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48780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E95473-CFFF-7A9F-C6B3-08C3DFEA6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54D2122-A2D1-BF87-B0D0-8ED8EFA4F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39E4626-CF36-C505-06F5-224167566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57131-583E-4951-A65B-8CE71F2593AD}" type="datetimeFigureOut">
              <a:rPr lang="fr-CA" smtClean="0"/>
              <a:t>2025-08-06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6A9E012-6CD3-66A7-5B15-678030496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45BFC73-B792-CA41-E5CD-9D0663C1F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0858-A4A0-4BFD-AF4F-8778C9231E9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573101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0B9BF2-CE9B-8E6E-638E-D8335E19E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1B78FE4-8314-2DC9-948D-5FEEF222A6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A39A9B4-F45A-B6B7-F003-C6ADB20DF9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3D4A1C6-5BCA-EC84-7EB2-F6C0011B3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57131-583E-4951-A65B-8CE71F2593AD}" type="datetimeFigureOut">
              <a:rPr lang="fr-CA" smtClean="0"/>
              <a:t>2025-08-06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0E36837-8B30-99BC-27A3-1194ECDFD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5647B80-EB30-3F45-A0E5-EA26218E6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0858-A4A0-4BFD-AF4F-8778C9231E9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51048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340E0F-2FB4-2620-6803-D99089695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E2519B7-A0B7-5D0D-ADB0-3DF3396602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B771A12-8548-2D82-0CFF-25CEEA203F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0992043-E146-37DE-72E5-571851D254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9D63F4E-3078-A048-FAE1-5AD6868F87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F91B5D9-2F79-C2B9-4201-D3CFA3248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57131-583E-4951-A65B-8CE71F2593AD}" type="datetimeFigureOut">
              <a:rPr lang="fr-CA" smtClean="0"/>
              <a:t>2025-08-06</a:t>
            </a:fld>
            <a:endParaRPr lang="fr-C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CB05E9A-8370-365E-440E-BC8D66F2C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F43D402-A5AA-C8BF-7B7C-ECF770D90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0858-A4A0-4BFD-AF4F-8778C9231E9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84084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FFCF84-1976-F3AA-194B-A3FF665BC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E62505E-20CC-A5A3-619B-AFD41F02F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57131-583E-4951-A65B-8CE71F2593AD}" type="datetimeFigureOut">
              <a:rPr lang="fr-CA" smtClean="0"/>
              <a:t>2025-08-06</a:t>
            </a:fld>
            <a:endParaRPr lang="fr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B4E7E9F-FE26-0EF6-D54E-FEF202B75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D94577A-F622-9D9A-9F58-C92F5504C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0858-A4A0-4BFD-AF4F-8778C9231E9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48552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08B0A9E-7B06-9B80-9B64-EE6866F76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57131-583E-4951-A65B-8CE71F2593AD}" type="datetimeFigureOut">
              <a:rPr lang="fr-CA" smtClean="0"/>
              <a:t>2025-08-06</a:t>
            </a:fld>
            <a:endParaRPr lang="fr-C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2F85F73-CF82-480A-879E-92F0FBC30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564A650-60F8-2533-4DD8-453B2673E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0858-A4A0-4BFD-AF4F-8778C9231E9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70377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C61E28-A99F-0A6F-1BD9-759931267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CA"/>
              <a:t>Modifier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F64C3F8-17E1-1652-4A66-DE488BACD5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3AA12C6-C14A-F9A3-D31C-BF507DA94C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DBD2DED-6D20-5158-507C-D17AA0EA1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57131-583E-4951-A65B-8CE71F2593AD}" type="datetimeFigureOut">
              <a:rPr lang="fr-CA" smtClean="0"/>
              <a:t>2025-08-06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A4979B9-2A3C-6FF3-ABAD-54572440D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3A784A3-D435-3D79-8348-2429F51F2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0858-A4A0-4BFD-AF4F-8778C9231E9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835500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97844E-530C-DA3A-57B7-E7AEC38D0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CA"/>
              <a:t>Modifier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63456FC-3EEA-5B83-AAC1-F806D664F3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9DAB471-75F2-D1E2-9208-7452724284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CB10624-E66A-8429-2A98-ED6134D50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57131-583E-4951-A65B-8CE71F2593AD}" type="datetimeFigureOut">
              <a:rPr lang="fr-CA" smtClean="0"/>
              <a:t>2025-08-06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E924151-3E5A-E651-46A1-0A5F4D081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730D02E-4F9D-1477-AE54-7A06AF801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0858-A4A0-4BFD-AF4F-8778C9231E9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322758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7092FD-69DC-210A-2C54-B67C59C93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F66FE84-6C10-C7E4-34D4-CC6F4F417B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BE9DE16-C417-8DFF-4880-B35E8383F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57131-583E-4951-A65B-8CE71F2593AD}" type="datetimeFigureOut">
              <a:rPr lang="fr-CA" smtClean="0"/>
              <a:t>2025-08-06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1F2EA74-89FA-41AF-FBA0-C8EB75051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1B2B0E3-ADDF-6ADD-38E4-232E47467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0858-A4A0-4BFD-AF4F-8778C9231E9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524041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CF5E836-A022-FE22-EE49-19D6385D5D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556F56E-7A00-518D-C19D-0125B77EA4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DEB5E8E-3119-8A8C-4509-138B3D900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57131-583E-4951-A65B-8CE71F2593AD}" type="datetimeFigureOut">
              <a:rPr lang="fr-CA" smtClean="0"/>
              <a:t>2025-08-06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92CB5F7-5D0A-6C24-2B2A-7E9ED7F46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6B310F8-1715-D2D5-CE98-8827093AA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0858-A4A0-4BFD-AF4F-8778C9231E9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084065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FA7A544-1A7E-D72A-DA64-CCDBDB773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BB579CF-D9CF-8008-22A8-19839A2D0B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B61F181-9695-BB72-0260-84AAE50740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657131-583E-4951-A65B-8CE71F2593AD}" type="datetimeFigureOut">
              <a:rPr lang="fr-CA" smtClean="0"/>
              <a:t>2025-08-06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F6EC7CE-5560-FDE2-787D-38555BF742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DC31D7E-ED36-664D-7F18-AA201993C8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E80858-A4A0-4BFD-AF4F-8778C9231E9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596672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91D2F142-1E6A-C6BD-2724-89703C6148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77709" cy="6810456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1B88BAEF-BA10-FBFE-142A-5BAB76C994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C6816A6-FE3B-D0D7-7C44-69DDBD0A04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00159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17AC7A-9C0A-7739-4EF4-F4D907B42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8B06599-194E-C6DA-2BB0-E36EAE729B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CA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A27AF39-AEA0-1CEA-2F5B-57A8415E94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730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0F8F32-7D68-7748-31D1-3672BAE6C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FFD070E-D484-D4F2-FCB9-33399B0838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CA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8EA8007-C4EC-32F9-B9F6-48CE548B7B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845"/>
            <a:ext cx="12192000" cy="6867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756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2F79EF-BC6E-7661-AD42-104BA7745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616C095-A2CA-6620-5EC0-44F72C24ED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CA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47CD9BF-E5EA-B824-57F8-9B8D48D4F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6200"/>
            <a:ext cx="12192000" cy="685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5678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FEBD5C-F9C6-E2C0-0865-F99734B28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446E89C-E79B-60E2-1AAD-780DFC97B5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CA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365C316-71B2-8180-7FE6-F0BE61B7D8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29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963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07E067-3476-F0CA-983F-8F1C5DF45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51A63AE-F730-5AA8-4236-F3ADA37F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CA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2558474-B675-8B81-3B83-A131B976E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78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6605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444DDB-67C0-6FD2-5156-949B3961C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fr-CA"/>
          </a:p>
        </p:txBody>
      </p:sp>
      <p:sp>
        <p:nvSpPr>
          <p:cNvPr id="4" name="AutoShape 2" descr="Taux de délinquance sur les prêts automobiles aux États-Unis (2005–2025)">
            <a:extLst>
              <a:ext uri="{FF2B5EF4-FFF2-40B4-BE49-F238E27FC236}">
                <a16:creationId xmlns:a16="http://schemas.microsoft.com/office/drawing/2014/main" id="{7609695E-A84B-FC63-6DEE-098B963BE1B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CA"/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EB9DB866-1606-E550-899F-901C901450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549791"/>
            <a:ext cx="12192000" cy="521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73EB4292-A009-22E7-8299-51FC982C0F58}"/>
              </a:ext>
            </a:extLst>
          </p:cNvPr>
          <p:cNvSpPr txBox="1"/>
          <p:nvPr/>
        </p:nvSpPr>
        <p:spPr>
          <a:xfrm>
            <a:off x="1564233" y="5584825"/>
            <a:ext cx="9541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dirty="0"/>
              <a:t>*Prochaine diapositive taux de délinquance sur prêts automobiles aux États-Unis (2023-2025)  </a:t>
            </a:r>
          </a:p>
        </p:txBody>
      </p:sp>
    </p:spTree>
    <p:extLst>
      <p:ext uri="{BB962C8B-B14F-4D97-AF65-F5344CB8AC3E}">
        <p14:creationId xmlns:p14="http://schemas.microsoft.com/office/powerpoint/2010/main" val="1409685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23FB09-4325-6259-5E76-D0CA2772B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9989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fr-CA" dirty="0"/>
              <a:t>Prêt carte de crédit</a:t>
            </a:r>
            <a:br>
              <a:rPr lang="fr-CA" dirty="0"/>
            </a:br>
            <a:r>
              <a:rPr lang="fr-CA" sz="1300" dirty="0"/>
              <a:t>Le taux a atteint un </a:t>
            </a:r>
            <a:r>
              <a:rPr lang="fr-CA" sz="1300" b="1" dirty="0"/>
              <a:t>pic autour de 4.57 % en 2009</a:t>
            </a:r>
            <a:r>
              <a:rPr lang="fr-CA" sz="1300" dirty="0"/>
              <a:t>, pendant la crise financière.</a:t>
            </a:r>
            <a:br>
              <a:rPr lang="fr-CA" sz="1300" dirty="0"/>
            </a:br>
            <a:r>
              <a:rPr lang="fr-CA" sz="1300" dirty="0"/>
              <a:t>Il a ensuite </a:t>
            </a:r>
            <a:r>
              <a:rPr lang="fr-CA" sz="1300" b="1" dirty="0"/>
              <a:t>diminué progressivement</a:t>
            </a:r>
            <a:r>
              <a:rPr lang="fr-CA" sz="1300" dirty="0"/>
              <a:t> jusqu’à environ </a:t>
            </a:r>
            <a:r>
              <a:rPr lang="fr-CA" sz="1300" b="1" dirty="0"/>
              <a:t>2.22 % en 2021 Q2</a:t>
            </a:r>
            <a:r>
              <a:rPr lang="fr-CA" sz="1300" dirty="0"/>
              <a:t>, avant de </a:t>
            </a:r>
            <a:r>
              <a:rPr lang="fr-CA" sz="1300" b="1" dirty="0"/>
              <a:t>remonter</a:t>
            </a:r>
            <a:r>
              <a:rPr lang="fr-CA" sz="1300" dirty="0"/>
              <a:t> à </a:t>
            </a:r>
            <a:r>
              <a:rPr lang="fr-CA" sz="1300" b="1" dirty="0"/>
              <a:t>3.81 % au deuxième trimestre 2024</a:t>
            </a:r>
            <a:r>
              <a:rPr lang="fr-CA" sz="1300" dirty="0"/>
              <a:t>.</a:t>
            </a:r>
            <a:br>
              <a:rPr lang="fr-CA" sz="1300" dirty="0"/>
            </a:br>
            <a:r>
              <a:rPr lang="fr-CA" sz="1300" dirty="0"/>
              <a:t>Cette tendance récente à la hausse reflète une </a:t>
            </a:r>
            <a:r>
              <a:rPr lang="fr-CA" sz="1300" b="1" dirty="0"/>
              <a:t>pression croissante sur les ménages</a:t>
            </a:r>
            <a:r>
              <a:rPr lang="fr-CA" sz="1300" dirty="0"/>
              <a:t>, notamment ceux avec des profils de crédit plus risqués.</a:t>
            </a:r>
            <a:br>
              <a:rPr lang="fr-CA" sz="1300" dirty="0"/>
            </a:br>
            <a:r>
              <a:rPr lang="fr-CA" sz="1300" dirty="0"/>
              <a:t>Souhaitez-vous comparer ce graphique avec celui des cartes de crédit ou obtenir les données dans un fichier Excel ou CSV ?</a:t>
            </a:r>
            <a:br>
              <a:rPr lang="fr-CA" sz="1300" dirty="0"/>
            </a:br>
            <a:endParaRPr lang="fr-CA" sz="1300" dirty="0"/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6A696261-0139-3D09-74E9-5A1B71E4C0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689" y="1687392"/>
            <a:ext cx="7917698" cy="4750619"/>
          </a:xfrm>
        </p:spPr>
      </p:pic>
      <p:sp>
        <p:nvSpPr>
          <p:cNvPr id="4" name="AutoShape 2" descr="Taux de délinquance sur les cartes de crédit aux États-Unis (2005–2025)">
            <a:extLst>
              <a:ext uri="{FF2B5EF4-FFF2-40B4-BE49-F238E27FC236}">
                <a16:creationId xmlns:a16="http://schemas.microsoft.com/office/drawing/2014/main" id="{105C122C-0039-6DF2-F81A-C036566A109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748808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E2CB4C-3614-AD84-E9E2-9C5F71821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749F4A5-635C-D43A-51B9-924DFA68DD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5CD0251-18E6-94A7-D554-B7F9D66087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CA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62AC632-22E1-F184-B68B-522073404A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5251"/>
            <a:ext cx="12192000" cy="6724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5110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7423DE-6444-5034-75C2-9056BD629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7839D7B-81EA-1A9D-8736-2271D6620C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CA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0B409D4-6D9C-AB61-9B12-F319A4AF24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74652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4EC09369-C60D-A855-6D52-CBB657BCF6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2672" y="3373260"/>
            <a:ext cx="3966914" cy="2189288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383B6CAF-6E09-EDC0-243E-0739308292FA}"/>
              </a:ext>
            </a:extLst>
          </p:cNvPr>
          <p:cNvSpPr txBox="1"/>
          <p:nvPr/>
        </p:nvSpPr>
        <p:spPr>
          <a:xfrm>
            <a:off x="7100592" y="6176963"/>
            <a:ext cx="50910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dirty="0"/>
              <a:t>***En avril annonce de </a:t>
            </a:r>
            <a:r>
              <a:rPr lang="fr-CA" dirty="0" err="1"/>
              <a:t>tarrifs</a:t>
            </a:r>
            <a:r>
              <a:rPr lang="fr-CA" dirty="0"/>
              <a:t> </a:t>
            </a:r>
            <a:r>
              <a:rPr lang="fr-CA" dirty="0" err="1"/>
              <a:t>greed</a:t>
            </a:r>
            <a:r>
              <a:rPr lang="fr-CA" dirty="0"/>
              <a:t> index était à 3</a:t>
            </a:r>
          </a:p>
        </p:txBody>
      </p:sp>
    </p:spTree>
    <p:extLst>
      <p:ext uri="{BB962C8B-B14F-4D97-AF65-F5344CB8AC3E}">
        <p14:creationId xmlns:p14="http://schemas.microsoft.com/office/powerpoint/2010/main" val="42559229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E7ED34-6DE5-1EA9-98AD-F08328069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FE66A70-62A1-9E81-190A-310C0CED25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CA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85FD28A9-2307-C3EB-6D30-F65FCFB9E5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5151"/>
            <a:ext cx="12192000" cy="6861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1630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04C528-4A75-89F8-0EAD-4BE3DC503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1183BE2-1117-1AD1-D97A-E1610FCD32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CA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D2D5C3E-C691-E859-D13D-9859919585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5152"/>
            <a:ext cx="12287080" cy="6873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1260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58C141-6703-FE17-C260-C7770B1B6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CA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079E86A0-D0D7-A4A4-9097-029D9B8019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45" y="0"/>
            <a:ext cx="12129155" cy="6492875"/>
          </a:xfrm>
        </p:spPr>
      </p:pic>
    </p:spTree>
    <p:extLst>
      <p:ext uri="{BB962C8B-B14F-4D97-AF65-F5344CB8AC3E}">
        <p14:creationId xmlns:p14="http://schemas.microsoft.com/office/powerpoint/2010/main" val="5545813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7D7399-C6D6-48EF-E9A8-C3F6FE495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La stagflation à surveiller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437F0836-9D28-931B-945B-39152FC6E1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791093"/>
            <a:ext cx="9570464" cy="2714919"/>
          </a:xfrm>
        </p:spPr>
      </p:pic>
    </p:spTree>
    <p:extLst>
      <p:ext uri="{BB962C8B-B14F-4D97-AF65-F5344CB8AC3E}">
        <p14:creationId xmlns:p14="http://schemas.microsoft.com/office/powerpoint/2010/main" val="184267816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490</TotalTime>
  <Words>125</Words>
  <Application>Microsoft Office PowerPoint</Application>
  <PresentationFormat>Grand écran</PresentationFormat>
  <Paragraphs>4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Prêt carte de crédit Le taux a atteint un pic autour de 4.57 % en 2009, pendant la crise financière. Il a ensuite diminué progressivement jusqu’à environ 2.22 % en 2021 Q2, avant de remonter à 3.81 % au deuxième trimestre 2024. Cette tendance récente à la hausse reflète une pression croissante sur les ménages, notamment ceux avec des profils de crédit plus risqués. Souhaitez-vous comparer ce graphique avec celui des cartes de crédit ou obtenir les données dans un fichier Excel ou CSV ?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La stagflation à surveiller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Nicolas Perron</dc:creator>
  <cp:lastModifiedBy>Nicolas Perron</cp:lastModifiedBy>
  <cp:revision>3</cp:revision>
  <cp:lastPrinted>2025-08-05T16:29:56Z</cp:lastPrinted>
  <dcterms:created xsi:type="dcterms:W3CDTF">2025-08-04T20:03:36Z</dcterms:created>
  <dcterms:modified xsi:type="dcterms:W3CDTF">2025-08-06T18:39:17Z</dcterms:modified>
</cp:coreProperties>
</file>