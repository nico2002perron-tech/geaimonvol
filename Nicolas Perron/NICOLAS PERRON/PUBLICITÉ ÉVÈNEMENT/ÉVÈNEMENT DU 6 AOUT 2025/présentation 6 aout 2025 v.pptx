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9" r:id="rId5"/>
    <p:sldId id="263" r:id="rId6"/>
    <p:sldId id="264" r:id="rId7"/>
    <p:sldId id="267" r:id="rId8"/>
    <p:sldId id="268" r:id="rId9"/>
    <p:sldId id="260" r:id="rId10"/>
    <p:sldId id="261" r:id="rId11"/>
    <p:sldId id="262" r:id="rId12"/>
    <p:sldId id="265" r:id="rId13"/>
    <p:sldId id="269" r:id="rId14"/>
    <p:sldId id="270" r:id="rId15"/>
  </p:sldIdLst>
  <p:sldSz cx="12192000" cy="6858000"/>
  <p:notesSz cx="70104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160CB5-C18E-40AA-8CCD-B3E1F7BF0E9D}" v="7" dt="2025-08-06T18:36:13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Perron" userId="c4b942dd-8101-4327-b318-9d8eef5cf21f" providerId="ADAL" clId="{87160CB5-C18E-40AA-8CCD-B3E1F7BF0E9D}"/>
    <pc:docChg chg="custSel addSld delSld modSld sldOrd">
      <pc:chgData name="Nicolas Perron" userId="c4b942dd-8101-4327-b318-9d8eef5cf21f" providerId="ADAL" clId="{87160CB5-C18E-40AA-8CCD-B3E1F7BF0E9D}" dt="2025-08-06T18:37:59.385" v="313" actId="14100"/>
      <pc:docMkLst>
        <pc:docMk/>
      </pc:docMkLst>
      <pc:sldChg chg="addSp delSp modSp mod">
        <pc:chgData name="Nicolas Perron" userId="c4b942dd-8101-4327-b318-9d8eef5cf21f" providerId="ADAL" clId="{87160CB5-C18E-40AA-8CCD-B3E1F7BF0E9D}" dt="2025-08-06T18:28:51.991" v="126" actId="1076"/>
        <pc:sldMkLst>
          <pc:docMk/>
          <pc:sldMk cId="1071756408" sldId="257"/>
        </pc:sldMkLst>
        <pc:picChg chg="del">
          <ac:chgData name="Nicolas Perron" userId="c4b942dd-8101-4327-b318-9d8eef5cf21f" providerId="ADAL" clId="{87160CB5-C18E-40AA-8CCD-B3E1F7BF0E9D}" dt="2025-08-06T18:28:35.791" v="122" actId="21"/>
          <ac:picMkLst>
            <pc:docMk/>
            <pc:sldMk cId="1071756408" sldId="257"/>
            <ac:picMk id="5" creationId="{AFFB1641-7EC5-0722-9254-D2FBD8AEAB8C}"/>
          </ac:picMkLst>
        </pc:picChg>
        <pc:picChg chg="add mod">
          <ac:chgData name="Nicolas Perron" userId="c4b942dd-8101-4327-b318-9d8eef5cf21f" providerId="ADAL" clId="{87160CB5-C18E-40AA-8CCD-B3E1F7BF0E9D}" dt="2025-08-06T18:28:51.991" v="126" actId="1076"/>
          <ac:picMkLst>
            <pc:docMk/>
            <pc:sldMk cId="1071756408" sldId="257"/>
            <ac:picMk id="6" creationId="{E8EA8007-C4EC-32F9-B9F6-48CE548B7BA0}"/>
          </ac:picMkLst>
        </pc:picChg>
      </pc:sldChg>
      <pc:sldChg chg="del">
        <pc:chgData name="Nicolas Perron" userId="c4b942dd-8101-4327-b318-9d8eef5cf21f" providerId="ADAL" clId="{87160CB5-C18E-40AA-8CCD-B3E1F7BF0E9D}" dt="2025-08-06T18:29:43.619" v="127" actId="2696"/>
        <pc:sldMkLst>
          <pc:docMk/>
          <pc:sldMk cId="1660526803" sldId="258"/>
        </pc:sldMkLst>
      </pc:sldChg>
      <pc:sldChg chg="ord">
        <pc:chgData name="Nicolas Perron" userId="c4b942dd-8101-4327-b318-9d8eef5cf21f" providerId="ADAL" clId="{87160CB5-C18E-40AA-8CCD-B3E1F7BF0E9D}" dt="2025-08-06T18:30:17.658" v="135"/>
        <pc:sldMkLst>
          <pc:docMk/>
          <pc:sldMk cId="3241567833" sldId="259"/>
        </pc:sldMkLst>
      </pc:sldChg>
      <pc:sldChg chg="addSp modSp mod">
        <pc:chgData name="Nicolas Perron" userId="c4b942dd-8101-4327-b318-9d8eef5cf21f" providerId="ADAL" clId="{87160CB5-C18E-40AA-8CCD-B3E1F7BF0E9D}" dt="2025-08-06T18:34:32.063" v="248" actId="1076"/>
        <pc:sldMkLst>
          <pc:docMk/>
          <pc:sldMk cId="4255922922" sldId="261"/>
        </pc:sldMkLst>
        <pc:spChg chg="add mod">
          <ac:chgData name="Nicolas Perron" userId="c4b942dd-8101-4327-b318-9d8eef5cf21f" providerId="ADAL" clId="{87160CB5-C18E-40AA-8CCD-B3E1F7BF0E9D}" dt="2025-08-06T18:34:32.063" v="248" actId="1076"/>
          <ac:spMkLst>
            <pc:docMk/>
            <pc:sldMk cId="4255922922" sldId="261"/>
            <ac:spMk id="7" creationId="{383B6CAF-6E09-EDC0-243E-0739308292FA}"/>
          </ac:spMkLst>
        </pc:spChg>
        <pc:picChg chg="add mod">
          <ac:chgData name="Nicolas Perron" userId="c4b942dd-8101-4327-b318-9d8eef5cf21f" providerId="ADAL" clId="{87160CB5-C18E-40AA-8CCD-B3E1F7BF0E9D}" dt="2025-08-06T18:33:32.673" v="181" actId="1076"/>
          <ac:picMkLst>
            <pc:docMk/>
            <pc:sldMk cId="4255922922" sldId="261"/>
            <ac:picMk id="6" creationId="{4EC09369-C60D-A855-6D52-CBB657BCF6DD}"/>
          </ac:picMkLst>
        </pc:picChg>
      </pc:sldChg>
      <pc:sldChg chg="ord">
        <pc:chgData name="Nicolas Perron" userId="c4b942dd-8101-4327-b318-9d8eef5cf21f" providerId="ADAL" clId="{87160CB5-C18E-40AA-8CCD-B3E1F7BF0E9D}" dt="2025-08-06T18:30:41.522" v="137"/>
        <pc:sldMkLst>
          <pc:docMk/>
          <pc:sldMk cId="1856126057" sldId="265"/>
        </pc:sldMkLst>
      </pc:sldChg>
      <pc:sldChg chg="addSp modSp mod ord">
        <pc:chgData name="Nicolas Perron" userId="c4b942dd-8101-4327-b318-9d8eef5cf21f" providerId="ADAL" clId="{87160CB5-C18E-40AA-8CCD-B3E1F7BF0E9D}" dt="2025-08-06T18:31:32.244" v="139" actId="14100"/>
        <pc:sldMkLst>
          <pc:docMk/>
          <pc:sldMk cId="1409685451" sldId="267"/>
        </pc:sldMkLst>
        <pc:spChg chg="mod">
          <ac:chgData name="Nicolas Perron" userId="c4b942dd-8101-4327-b318-9d8eef5cf21f" providerId="ADAL" clId="{87160CB5-C18E-40AA-8CCD-B3E1F7BF0E9D}" dt="2025-08-06T18:31:32.244" v="139" actId="14100"/>
          <ac:spMkLst>
            <pc:docMk/>
            <pc:sldMk cId="1409685451" sldId="267"/>
            <ac:spMk id="2" creationId="{C7444DDB-67C0-6FD2-5156-949B3961CB9C}"/>
          </ac:spMkLst>
        </pc:spChg>
        <pc:spChg chg="add mod">
          <ac:chgData name="Nicolas Perron" userId="c4b942dd-8101-4327-b318-9d8eef5cf21f" providerId="ADAL" clId="{87160CB5-C18E-40AA-8CCD-B3E1F7BF0E9D}" dt="2025-08-06T17:30:23.529" v="121" actId="20577"/>
          <ac:spMkLst>
            <pc:docMk/>
            <pc:sldMk cId="1409685451" sldId="267"/>
            <ac:spMk id="8" creationId="{73EB4292-A009-22E7-8299-51FC982C0F58}"/>
          </ac:spMkLst>
        </pc:spChg>
        <pc:picChg chg="mod">
          <ac:chgData name="Nicolas Perron" userId="c4b942dd-8101-4327-b318-9d8eef5cf21f" providerId="ADAL" clId="{87160CB5-C18E-40AA-8CCD-B3E1F7BF0E9D}" dt="2025-08-06T18:31:27.468" v="138" actId="1076"/>
          <ac:picMkLst>
            <pc:docMk/>
            <pc:sldMk cId="1409685451" sldId="267"/>
            <ac:picMk id="7" creationId="{EB9DB866-1606-E550-899F-901C90145023}"/>
          </ac:picMkLst>
        </pc:picChg>
      </pc:sldChg>
      <pc:sldChg chg="modSp mod ord">
        <pc:chgData name="Nicolas Perron" userId="c4b942dd-8101-4327-b318-9d8eef5cf21f" providerId="ADAL" clId="{87160CB5-C18E-40AA-8CCD-B3E1F7BF0E9D}" dt="2025-08-06T18:31:54.088" v="178" actId="20577"/>
        <pc:sldMkLst>
          <pc:docMk/>
          <pc:sldMk cId="1574880808" sldId="268"/>
        </pc:sldMkLst>
        <pc:spChg chg="mod">
          <ac:chgData name="Nicolas Perron" userId="c4b942dd-8101-4327-b318-9d8eef5cf21f" providerId="ADAL" clId="{87160CB5-C18E-40AA-8CCD-B3E1F7BF0E9D}" dt="2025-08-06T18:31:54.088" v="178" actId="20577"/>
          <ac:spMkLst>
            <pc:docMk/>
            <pc:sldMk cId="1574880808" sldId="268"/>
            <ac:spMk id="2" creationId="{0523FB09-4325-6259-5E76-D0CA2772B703}"/>
          </ac:spMkLst>
        </pc:spChg>
      </pc:sldChg>
      <pc:sldChg chg="addSp delSp modSp new mod">
        <pc:chgData name="Nicolas Perron" userId="c4b942dd-8101-4327-b318-9d8eef5cf21f" providerId="ADAL" clId="{87160CB5-C18E-40AA-8CCD-B3E1F7BF0E9D}" dt="2025-08-06T18:37:59.385" v="313" actId="14100"/>
        <pc:sldMkLst>
          <pc:docMk/>
          <pc:sldMk cId="554581345" sldId="269"/>
        </pc:sldMkLst>
        <pc:spChg chg="del mod">
          <ac:chgData name="Nicolas Perron" userId="c4b942dd-8101-4327-b318-9d8eef5cf21f" providerId="ADAL" clId="{87160CB5-C18E-40AA-8CCD-B3E1F7BF0E9D}" dt="2025-08-06T18:35:33.311" v="251"/>
          <ac:spMkLst>
            <pc:docMk/>
            <pc:sldMk cId="554581345" sldId="269"/>
            <ac:spMk id="3" creationId="{9DC37999-099F-87A8-C10E-EFE53B27277D}"/>
          </ac:spMkLst>
        </pc:spChg>
        <pc:picChg chg="add mod">
          <ac:chgData name="Nicolas Perron" userId="c4b942dd-8101-4327-b318-9d8eef5cf21f" providerId="ADAL" clId="{87160CB5-C18E-40AA-8CCD-B3E1F7BF0E9D}" dt="2025-08-06T18:37:59.385" v="313" actId="14100"/>
          <ac:picMkLst>
            <pc:docMk/>
            <pc:sldMk cId="554581345" sldId="269"/>
            <ac:picMk id="5" creationId="{079E86A0-D0D7-A4A4-9097-029D9B80193E}"/>
          </ac:picMkLst>
        </pc:picChg>
      </pc:sldChg>
      <pc:sldChg chg="addSp delSp modSp new mod">
        <pc:chgData name="Nicolas Perron" userId="c4b942dd-8101-4327-b318-9d8eef5cf21f" providerId="ADAL" clId="{87160CB5-C18E-40AA-8CCD-B3E1F7BF0E9D}" dt="2025-08-06T18:37:27.082" v="304" actId="20577"/>
        <pc:sldMkLst>
          <pc:docMk/>
          <pc:sldMk cId="1842678161" sldId="270"/>
        </pc:sldMkLst>
        <pc:spChg chg="mod">
          <ac:chgData name="Nicolas Perron" userId="c4b942dd-8101-4327-b318-9d8eef5cf21f" providerId="ADAL" clId="{87160CB5-C18E-40AA-8CCD-B3E1F7BF0E9D}" dt="2025-08-06T18:37:27.082" v="304" actId="20577"/>
          <ac:spMkLst>
            <pc:docMk/>
            <pc:sldMk cId="1842678161" sldId="270"/>
            <ac:spMk id="2" creationId="{407D7399-C6D6-48EF-E9A8-C3F6FE49577E}"/>
          </ac:spMkLst>
        </pc:spChg>
        <pc:spChg chg="del mod">
          <ac:chgData name="Nicolas Perron" userId="c4b942dd-8101-4327-b318-9d8eef5cf21f" providerId="ADAL" clId="{87160CB5-C18E-40AA-8CCD-B3E1F7BF0E9D}" dt="2025-08-06T18:36:13.391" v="257"/>
          <ac:spMkLst>
            <pc:docMk/>
            <pc:sldMk cId="1842678161" sldId="270"/>
            <ac:spMk id="3" creationId="{DA0CCA97-C529-DF08-BF1B-99664CD3408A}"/>
          </ac:spMkLst>
        </pc:spChg>
        <pc:picChg chg="add mod">
          <ac:chgData name="Nicolas Perron" userId="c4b942dd-8101-4327-b318-9d8eef5cf21f" providerId="ADAL" clId="{87160CB5-C18E-40AA-8CCD-B3E1F7BF0E9D}" dt="2025-08-06T18:36:24.116" v="265" actId="14100"/>
          <ac:picMkLst>
            <pc:docMk/>
            <pc:sldMk cId="1842678161" sldId="270"/>
            <ac:picMk id="5" creationId="{437F0836-9D28-931B-945B-39152FC6E1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8DF24C-C91B-5E2E-7CA0-FA5D23A399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A4BD219-1A44-000C-BF69-F9ED9F65B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530D9C-2C50-B491-579C-E8AC79419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9F614D-73DF-B6C3-2C6E-2A742916B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E5990C-1D0A-B209-C460-28BA150C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94399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72D84F-57F5-6E8F-32AD-9113BE8F4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8502FA-8A1B-6D0F-A868-3D189B476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36BA57-607D-AED4-9524-1F95717EF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C6755-6FC4-00DA-C6CC-B32D0B0F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D59F7C-10F0-EF7C-5362-74871AFC5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878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E95473-CFFF-7A9F-C6B3-08C3DFEA6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4D2122-A2D1-BF87-B0D0-8ED8EFA4F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9E4626-CF36-C505-06F5-224167566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A9E012-6CD3-66A7-5B15-67803049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5BFC73-B792-CA41-E5CD-9D0663C1F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73101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0B9BF2-CE9B-8E6E-638E-D8335E19E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B78FE4-8314-2DC9-948D-5FEEF222A6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A39A9B4-F45A-B6B7-F003-C6ADB20DF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3D4A1C6-5BCA-EC84-7EB2-F6C0011B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0E36837-8B30-99BC-27A3-1194ECDFD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5647B80-EB30-3F45-A0E5-EA26218E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51048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40E0F-2FB4-2620-6803-D99089695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2519B7-A0B7-5D0D-ADB0-3DF339660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771A12-8548-2D82-0CFF-25CEEA203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992043-E146-37DE-72E5-571851D25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63F4E-3078-A048-FAE1-5AD6868F8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F91B5D9-2F79-C2B9-4201-D3CFA324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CB05E9A-8370-365E-440E-BC8D66F2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F43D402-A5AA-C8BF-7B7C-ECF770D90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4084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FFCF84-1976-F3AA-194B-A3FF665BC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E62505E-20CC-A5A3-619B-AFD41F02F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4E7E9F-FE26-0EF6-D54E-FEF202B75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D94577A-F622-9D9A-9F58-C92F5504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855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08B0A9E-7B06-9B80-9B64-EE6866F7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2F85F73-CF82-480A-879E-92F0FBC3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64A650-60F8-2533-4DD8-453B2673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7037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61E28-A99F-0A6F-1BD9-75993126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64C3F8-17E1-1652-4A66-DE488BACD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AA12C6-C14A-F9A3-D31C-BF507DA94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DBD2DED-6D20-5158-507C-D17AA0EA1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4979B9-2A3C-6FF3-ABAD-54572440D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A784A3-D435-3D79-8348-2429F51F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35500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97844E-530C-DA3A-57B7-E7AEC38D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CA"/>
              <a:t>Modifier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63456FC-3EEA-5B83-AAC1-F806D664F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9DAB471-75F2-D1E2-9208-745272428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B10624-E66A-8429-2A98-ED6134D5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924151-3E5A-E651-46A1-0A5F4D081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730D02E-4F9D-1477-AE54-7A06AF80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2275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7092FD-69DC-210A-2C54-B67C59C93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66FE84-6C10-C7E4-34D4-CC6F4F417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E9DE16-C417-8DFF-4880-B35E8383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F2EA74-89FA-41AF-FBA0-C8EB75051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B2B0E3-ADDF-6ADD-38E4-232E4746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2404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CF5E836-A022-FE22-EE49-19D6385D5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56F56E-7A00-518D-C19D-0125B77EA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EB5E8E-3119-8A8C-4509-138B3D900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2CB5F7-5D0A-6C24-2B2A-7E9ED7F46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B310F8-1715-D2D5-CE98-8827093A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8406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FA7A544-1A7E-D72A-DA64-CCDBDB773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Modifier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BB579CF-D9CF-8008-22A8-19839A2D0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61F181-9695-BB72-0260-84AAE5074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57131-583E-4951-A65B-8CE71F2593AD}" type="datetimeFigureOut">
              <a:rPr lang="fr-CA" smtClean="0"/>
              <a:t>2025-08-06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6EC7CE-5560-FDE2-787D-38555BF74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C31D7E-ED36-664D-7F18-AA201993C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80858-A4A0-4BFD-AF4F-8778C9231E96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9667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1D2F142-1E6A-C6BD-2724-89703C614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77709" cy="681045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1B88BAEF-BA10-FBFE-142A-5BAB76C994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6816A6-FE3B-D0D7-7C44-69DDBD0A04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0015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17AC7A-9C0A-7739-4EF4-F4D907B4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B06599-194E-C6DA-2BB0-E36EAE729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A27AF39-AEA0-1CEA-2F5B-57A8415E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30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0F8F32-7D68-7748-31D1-3672BAE6C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FD070E-D484-D4F2-FCB9-33399B083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8EA8007-C4EC-32F9-B9F6-48CE548B7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845"/>
            <a:ext cx="12192000" cy="686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5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2F79EF-BC6E-7661-AD42-104BA774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16C095-A2CA-6620-5EC0-44F72C24E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7CD9BF-E5EA-B824-57F8-9B8D48D4F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2192000" cy="685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6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EBD5C-F9C6-E2C0-0865-F99734B2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46E89C-E79B-60E2-1AAD-780DFC97B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365C316-71B2-8180-7FE6-F0BE61B7D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07E067-3476-F0CA-983F-8F1C5DF45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1A63AE-F730-5AA8-4236-F3ADA37FB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2558474-B675-8B81-3B83-A131B976E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78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66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444DDB-67C0-6FD2-5156-949B3961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fr-CA"/>
          </a:p>
        </p:txBody>
      </p:sp>
      <p:sp>
        <p:nvSpPr>
          <p:cNvPr id="4" name="AutoShape 2" descr="Taux de délinquance sur les prêts automobiles aux États-Unis (2005–2025)">
            <a:extLst>
              <a:ext uri="{FF2B5EF4-FFF2-40B4-BE49-F238E27FC236}">
                <a16:creationId xmlns:a16="http://schemas.microsoft.com/office/drawing/2014/main" id="{7609695E-A84B-FC63-6DEE-098B963BE1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B9DB866-1606-E550-899F-901C901450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49791"/>
            <a:ext cx="12192000" cy="521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3EB4292-A009-22E7-8299-51FC982C0F58}"/>
              </a:ext>
            </a:extLst>
          </p:cNvPr>
          <p:cNvSpPr txBox="1"/>
          <p:nvPr/>
        </p:nvSpPr>
        <p:spPr>
          <a:xfrm>
            <a:off x="1564233" y="5584825"/>
            <a:ext cx="954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/>
              <a:t>*Prochaine diapositive taux de délinquance sur prêts automobiles aux États-Unis (2023-2025)  </a:t>
            </a:r>
          </a:p>
        </p:txBody>
      </p:sp>
    </p:spTree>
    <p:extLst>
      <p:ext uri="{BB962C8B-B14F-4D97-AF65-F5344CB8AC3E}">
        <p14:creationId xmlns:p14="http://schemas.microsoft.com/office/powerpoint/2010/main" val="1409685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23FB09-4325-6259-5E76-D0CA2772B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98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fr-CA" dirty="0"/>
              <a:t>Prêt carte de crédit</a:t>
            </a:r>
            <a:br>
              <a:rPr lang="fr-CA" dirty="0"/>
            </a:br>
            <a:r>
              <a:rPr lang="fr-CA" sz="1300" dirty="0"/>
              <a:t>Le taux a atteint un </a:t>
            </a:r>
            <a:r>
              <a:rPr lang="fr-CA" sz="1300" b="1" dirty="0"/>
              <a:t>pic autour de 4.57 % en 2009</a:t>
            </a:r>
            <a:r>
              <a:rPr lang="fr-CA" sz="1300" dirty="0"/>
              <a:t>, pendant la crise financière.</a:t>
            </a:r>
            <a:br>
              <a:rPr lang="fr-CA" sz="1300" dirty="0"/>
            </a:br>
            <a:r>
              <a:rPr lang="fr-CA" sz="1300" dirty="0"/>
              <a:t>Il a ensuite </a:t>
            </a:r>
            <a:r>
              <a:rPr lang="fr-CA" sz="1300" b="1" dirty="0"/>
              <a:t>diminué progressivement</a:t>
            </a:r>
            <a:r>
              <a:rPr lang="fr-CA" sz="1300" dirty="0"/>
              <a:t> jusqu’à environ </a:t>
            </a:r>
            <a:r>
              <a:rPr lang="fr-CA" sz="1300" b="1" dirty="0"/>
              <a:t>2.22 % en 2021 Q2</a:t>
            </a:r>
            <a:r>
              <a:rPr lang="fr-CA" sz="1300" dirty="0"/>
              <a:t>, avant de </a:t>
            </a:r>
            <a:r>
              <a:rPr lang="fr-CA" sz="1300" b="1" dirty="0"/>
              <a:t>remonter</a:t>
            </a:r>
            <a:r>
              <a:rPr lang="fr-CA" sz="1300" dirty="0"/>
              <a:t> à </a:t>
            </a:r>
            <a:r>
              <a:rPr lang="fr-CA" sz="1300" b="1" dirty="0"/>
              <a:t>3.81 % au deuxième trimestre 2024</a:t>
            </a:r>
            <a:r>
              <a:rPr lang="fr-CA" sz="1300" dirty="0"/>
              <a:t>.</a:t>
            </a:r>
            <a:br>
              <a:rPr lang="fr-CA" sz="1300" dirty="0"/>
            </a:br>
            <a:r>
              <a:rPr lang="fr-CA" sz="1300" dirty="0"/>
              <a:t>Cette tendance récente à la hausse reflète une </a:t>
            </a:r>
            <a:r>
              <a:rPr lang="fr-CA" sz="1300" b="1" dirty="0"/>
              <a:t>pression croissante sur les ménages</a:t>
            </a:r>
            <a:r>
              <a:rPr lang="fr-CA" sz="1300" dirty="0"/>
              <a:t>, notamment ceux avec des profils de crédit plus risqués.</a:t>
            </a:r>
            <a:br>
              <a:rPr lang="fr-CA" sz="1300" dirty="0"/>
            </a:br>
            <a:r>
              <a:rPr lang="fr-CA" sz="1300" dirty="0"/>
              <a:t>Souhaitez-vous comparer ce graphique avec celui des cartes de crédit ou obtenir les données dans un fichier Excel ou CSV ?</a:t>
            </a:r>
            <a:br>
              <a:rPr lang="fr-CA" sz="1300" dirty="0"/>
            </a:br>
            <a:endParaRPr lang="fr-CA" sz="1300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6A696261-0139-3D09-74E9-5A1B71E4C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89" y="1687392"/>
            <a:ext cx="7917698" cy="4750619"/>
          </a:xfrm>
        </p:spPr>
      </p:pic>
      <p:sp>
        <p:nvSpPr>
          <p:cNvPr id="4" name="AutoShape 2" descr="Taux de délinquance sur les cartes de crédit aux États-Unis (2005–2025)">
            <a:extLst>
              <a:ext uri="{FF2B5EF4-FFF2-40B4-BE49-F238E27FC236}">
                <a16:creationId xmlns:a16="http://schemas.microsoft.com/office/drawing/2014/main" id="{105C122C-0039-6DF2-F81A-C036566A10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74880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E2CB4C-3614-AD84-E9E2-9C5F71821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49F4A5-635C-D43A-51B9-924DFA68D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CD0251-18E6-94A7-D554-B7F9D6608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62AC632-22E1-F184-B68B-522073404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5251"/>
            <a:ext cx="12192000" cy="672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11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7423DE-6444-5034-75C2-9056BD62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839D7B-81EA-1A9D-8736-2271D6620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B409D4-6D9C-AB61-9B12-F319A4AF2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4652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EC09369-C60D-A855-6D52-CBB657BCF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3373260"/>
            <a:ext cx="3966914" cy="2189288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83B6CAF-6E09-EDC0-243E-0739308292FA}"/>
              </a:ext>
            </a:extLst>
          </p:cNvPr>
          <p:cNvSpPr txBox="1"/>
          <p:nvPr/>
        </p:nvSpPr>
        <p:spPr>
          <a:xfrm>
            <a:off x="7100592" y="6176963"/>
            <a:ext cx="509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dirty="0"/>
              <a:t>***En avril annonce de </a:t>
            </a:r>
            <a:r>
              <a:rPr lang="fr-CA" dirty="0" err="1"/>
              <a:t>tarrifs</a:t>
            </a:r>
            <a:r>
              <a:rPr lang="fr-CA" dirty="0"/>
              <a:t> </a:t>
            </a:r>
            <a:r>
              <a:rPr lang="fr-CA" dirty="0" err="1"/>
              <a:t>greed</a:t>
            </a:r>
            <a:r>
              <a:rPr lang="fr-CA" dirty="0"/>
              <a:t> index était à 3</a:t>
            </a:r>
          </a:p>
        </p:txBody>
      </p:sp>
    </p:spTree>
    <p:extLst>
      <p:ext uri="{BB962C8B-B14F-4D97-AF65-F5344CB8AC3E}">
        <p14:creationId xmlns:p14="http://schemas.microsoft.com/office/powerpoint/2010/main" val="4255922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E7ED34-6DE5-1EA9-98AD-F08328069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E66A70-62A1-9E81-190A-310C0CED2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5FD28A9-2307-C3EB-6D30-F65FCFB9E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151"/>
            <a:ext cx="12192000" cy="686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63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04C528-4A75-89F8-0EAD-4BE3DC503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183BE2-1117-1AD1-D97A-E1610FCD3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D2D5C3E-C691-E859-D13D-985991958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152"/>
            <a:ext cx="12287080" cy="687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126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58C141-6703-FE17-C260-C7770B1B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79E86A0-D0D7-A4A4-9097-029D9B801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5" y="0"/>
            <a:ext cx="12129155" cy="6492875"/>
          </a:xfrm>
        </p:spPr>
      </p:pic>
    </p:spTree>
    <p:extLst>
      <p:ext uri="{BB962C8B-B14F-4D97-AF65-F5344CB8AC3E}">
        <p14:creationId xmlns:p14="http://schemas.microsoft.com/office/powerpoint/2010/main" val="554581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7D7399-C6D6-48EF-E9A8-C3F6FE49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stagflation à surveiller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37F0836-9D28-931B-945B-39152FC6E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1093"/>
            <a:ext cx="9570464" cy="2714919"/>
          </a:xfrm>
        </p:spPr>
      </p:pic>
    </p:spTree>
    <p:extLst>
      <p:ext uri="{BB962C8B-B14F-4D97-AF65-F5344CB8AC3E}">
        <p14:creationId xmlns:p14="http://schemas.microsoft.com/office/powerpoint/2010/main" val="184267816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125</Words>
  <Application>Microsoft Office PowerPoint</Application>
  <PresentationFormat>Grand écran</PresentationFormat>
  <Paragraphs>4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Prêt carte de crédit Le taux a atteint un pic autour de 4.57 % en 2009, pendant la crise financière. Il a ensuite diminué progressivement jusqu’à environ 2.22 % en 2021 Q2, avant de remonter à 3.81 % au deuxième trimestre 2024. Cette tendance récente à la hausse reflète une pression croissante sur les ménages, notamment ceux avec des profils de crédit plus risqués. Souhaitez-vous comparer ce graphique avec celui des cartes de crédit ou obtenir les données dans un fichier Excel ou CSV ?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La stagflation à surveiller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Perron</dc:creator>
  <cp:lastModifiedBy>Nicolas Perron</cp:lastModifiedBy>
  <cp:revision>2</cp:revision>
  <cp:lastPrinted>2025-08-05T16:29:56Z</cp:lastPrinted>
  <dcterms:created xsi:type="dcterms:W3CDTF">2025-08-04T20:03:36Z</dcterms:created>
  <dcterms:modified xsi:type="dcterms:W3CDTF">2025-08-06T18:38:02Z</dcterms:modified>
</cp:coreProperties>
</file>